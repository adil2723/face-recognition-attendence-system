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82880"/>
            <a:ext cx="2011680" cy="2011680"/>
          </a:xfrm>
          <a:prstGeom prst="ellipse">
            <a:avLst/>
          </a:prstGeom>
          <a:solidFill>
            <a:srgbClr val="0090CC">
              <a:alpha val="4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2560320" cy="320040"/>
          </a:xfrm>
          <a:prstGeom prst="rect">
            <a:avLst>
              <a:gd name="adj" fmla="val 14286"/>
            </a:avLst>
          </a:prstGeom>
          <a:solidFill>
            <a:srgbClr val="00C2FF">
              <a:alpha val="8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AI · DEEP LEARNING · COMPUTER VISION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AI-powered attendance tracking using deep CNN face recognition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1280160" cy="384048"/>
          </a:xfrm>
          <a:prstGeom prst="rect">
            <a:avLst>
              <a:gd name="adj" fmla="val 11905"/>
            </a:avLst>
          </a:prstGeom>
          <a:solidFill>
            <a:srgbClr val="1B3A6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3840480"/>
            <a:ext cx="1280160" cy="384048"/>
          </a:xfrm>
          <a:prstGeom prst="rect">
            <a:avLst>
              <a:gd name="adj" fmla="val 11905"/>
            </a:avLst>
          </a:prstGeom>
          <a:solidFill>
            <a:srgbClr val="1B3A6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PyTorch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3840480"/>
            <a:ext cx="1280160" cy="384048"/>
          </a:xfrm>
          <a:prstGeom prst="rect">
            <a:avLst>
              <a:gd name="adj" fmla="val 11905"/>
            </a:avLst>
          </a:prstGeom>
          <a:solidFill>
            <a:srgbClr val="1B3A6B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OpenCV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800600"/>
            <a:ext cx="8595360" cy="274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Powered by Custom CNN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C3"/>
                </a:solidFill>
              </a:rPr>
              <a:t>SYSTEM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554480" cy="26060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554480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C3"/>
                </a:solidFill>
              </a:rPr>
              <a:t>01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37360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Gather face images per person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83664" y="2468880"/>
            <a:ext cx="54864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47672" y="1234440"/>
            <a:ext cx="1554480" cy="26060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47672" y="1234440"/>
            <a:ext cx="1554480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47672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C3"/>
                </a:solidFill>
              </a:rPr>
              <a:t>02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737360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93392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Extraction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993392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Haar Cascade crop + pad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511296" y="2468880"/>
            <a:ext cx="54864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575304" y="1234440"/>
            <a:ext cx="1554480" cy="26060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575304" y="1234440"/>
            <a:ext cx="1554480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75304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C3"/>
                </a:solidFill>
              </a:rPr>
              <a:t>03</a:t>
            </a:r>
            <a:endParaRPr lang="en-US" sz="1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737360"/>
            <a:ext cx="512064" cy="51206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21024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621024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CNN with augmentation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138928" y="2468880"/>
            <a:ext cx="54864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202936" y="1234440"/>
            <a:ext cx="1554480" cy="26060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202936" y="1234440"/>
            <a:ext cx="1554480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202936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C3"/>
                </a:solidFill>
              </a:rPr>
              <a:t>04</a:t>
            </a:r>
            <a:endParaRPr lang="en-US" sz="1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1737360"/>
            <a:ext cx="512064" cy="5120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248656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Recognition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248656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≥80% confidence threshold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766560" y="2468880"/>
            <a:ext cx="54864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830568" y="1234440"/>
            <a:ext cx="1554480" cy="26060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830568" y="1234440"/>
            <a:ext cx="1554480" cy="54864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830568" y="1325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C3"/>
                </a:solidFill>
              </a:rPr>
              <a:t>05</a:t>
            </a:r>
            <a:endParaRPr lang="en-US" sz="18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1737360"/>
            <a:ext cx="512064" cy="51206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876288" y="2331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Attendance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CSV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876288" y="3017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C7"/>
                </a:solidFill>
              </a:rPr>
              <a:t>One entry per person/day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FF"/>
                </a:solidFill>
              </a:rPr>
              <a:t>MODEL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— model.py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937760" cy="438912"/>
          </a:xfrm>
          <a:prstGeom prst="rect">
            <a:avLst/>
          </a:prstGeom>
          <a:solidFill>
            <a:srgbClr val="1B3A6B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Input 100×100 RGB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51760" y="1673352"/>
            <a:ext cx="36576" cy="10972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01368"/>
            <a:ext cx="4937760" cy="438912"/>
          </a:xfrm>
          <a:prstGeom prst="rect">
            <a:avLst/>
          </a:prstGeom>
          <a:solidFill>
            <a:srgbClr val="0090CC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0136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Conv Block ×4 — 32→64→128→256 filters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51760" y="2240280"/>
            <a:ext cx="36576" cy="10972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68296"/>
            <a:ext cx="4937760" cy="438912"/>
          </a:xfrm>
          <a:prstGeom prst="rect">
            <a:avLst/>
          </a:prstGeom>
          <a:solidFill>
            <a:srgbClr val="3A4F6A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682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Conv2D → BatchNorm → LeakyReLU → MaxPool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651760" y="2807208"/>
            <a:ext cx="36576" cy="10972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35224"/>
            <a:ext cx="4937760" cy="438912"/>
          </a:xfrm>
          <a:prstGeom prst="rect">
            <a:avLst/>
          </a:prstGeom>
          <a:solidFill>
            <a:srgbClr val="0090CC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3522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AdaptiveAvgPool (4×4)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51760" y="3374136"/>
            <a:ext cx="36576" cy="10972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02152"/>
            <a:ext cx="4937760" cy="438912"/>
          </a:xfrm>
          <a:prstGeom prst="rect">
            <a:avLst/>
          </a:prstGeom>
          <a:solidFill>
            <a:srgbClr val="0090CC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0215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FC 1024 → 512 → Classes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651760" y="3941064"/>
            <a:ext cx="36576" cy="109728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69080"/>
            <a:ext cx="4937760" cy="438912"/>
          </a:xfrm>
          <a:prstGeom prst="rect">
            <a:avLst/>
          </a:prstGeom>
          <a:solidFill>
            <a:srgbClr val="3A4F6A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690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Dropout 0.4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577840" y="1188720"/>
            <a:ext cx="3246120" cy="347472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1234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E5C3"/>
                </a:solidFill>
              </a:rPr>
              <a:t>KEY SPECS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1664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Activation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1664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LeakyReLU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148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Normalization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BatchNorm2D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Pooling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633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MaxPool + AdaptiveAvg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1181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Regularization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31181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Dropout 0.4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6027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FC Hidden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3602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1024 → 512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40873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</a:rPr>
              <a:t>Output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4087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N-class Softmax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C3"/>
                </a:solidFill>
              </a:rPr>
              <a:t>TRAINING PROCESS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— Configuration &amp; Augmentation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356616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C2FF"/>
                </a:solidFill>
              </a:rPr>
              <a:t>TRAINING CONFIG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54864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Loss Function: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12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CrossEntropy + Label Smoothing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139696"/>
            <a:ext cx="54864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9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Optimizer: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Adam (lr = 0.0001)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651760"/>
            <a:ext cx="54864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Scheduler: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ReduceLROnPlateau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163824"/>
            <a:ext cx="54864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63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Epochs: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0312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675888"/>
            <a:ext cx="54864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75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Train / Val Split: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0312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80% / 20% (seed = 42)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187952"/>
            <a:ext cx="54864" cy="27432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87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C7"/>
                </a:solidFill>
              </a:rPr>
              <a:t>Output: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0312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face_model.pth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4114800" cy="356616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234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E5C3"/>
                </a:solidFill>
              </a:rPr>
              <a:t>DATA AUGMENTATION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664208"/>
            <a:ext cx="3840480" cy="822960"/>
          </a:xfrm>
          <a:prstGeom prst="rect">
            <a:avLst/>
          </a:prstGeom>
          <a:solidFill>
            <a:srgbClr val="1B3A6B"/>
          </a:solidFill>
          <a:ln w="15240">
            <a:solidFill>
              <a:srgbClr val="0090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828800"/>
            <a:ext cx="411480" cy="4114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532120" y="17099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Horizontal Flip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32120" y="2075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3"/>
                </a:solidFill>
              </a:rPr>
              <a:t>p = 0.5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892040" y="2670048"/>
            <a:ext cx="3840480" cy="822960"/>
          </a:xfrm>
          <a:prstGeom prst="rect">
            <a:avLst/>
          </a:prstGeom>
          <a:solidFill>
            <a:srgbClr val="1B3A6B"/>
          </a:solidFill>
          <a:ln w="15240">
            <a:solidFill>
              <a:srgbClr val="0090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834640"/>
            <a:ext cx="411480" cy="4114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532120" y="27157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Rotation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532120" y="30815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3"/>
                </a:solidFill>
              </a:rPr>
              <a:t>±15°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892040" y="3675888"/>
            <a:ext cx="3840480" cy="822960"/>
          </a:xfrm>
          <a:prstGeom prst="rect">
            <a:avLst/>
          </a:prstGeom>
          <a:solidFill>
            <a:srgbClr val="1B3A6B"/>
          </a:solidFill>
          <a:ln w="15240">
            <a:solidFill>
              <a:srgbClr val="0090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840480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532120" y="3721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Color Jitter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5532120" y="4087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C3"/>
                </a:solidFill>
              </a:rPr>
              <a:t>brightness, contrast, saturation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475488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3C7"/>
                </a:solidFill>
              </a:rPr>
              <a:t>Augmentation improves generalization &amp; reduces overfitting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FF"/>
                </a:solidFill>
              </a:rPr>
              <a:t>FACE DETECTION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detect.py — OpenCV Haar Cascade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0058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75488" cy="47548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280160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Load Haar Cascade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1664208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Use OpenCV frontal face classifier for fast detection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60520" cy="10058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475488" cy="47548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58968" y="1280160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Detect Largest Face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58968" y="1664208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Select only the primary face to reduce noise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4160520" cy="10058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06040"/>
            <a:ext cx="475488" cy="47548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9848" y="2468880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Crop &amp; Pad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9848" y="2852928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Crop bounding box with 5% padding for context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160520" cy="10058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06040"/>
            <a:ext cx="475488" cy="47548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58968" y="2468880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Resize to 100×100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58968" y="2852928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Normalize size for CNN input consistency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4160520" cy="10058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94760"/>
            <a:ext cx="475488" cy="47548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94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9848" y="3657600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Save to /faces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69848" y="4041648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Organized per-person folder; skip already-processed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566160"/>
            <a:ext cx="4160520" cy="100584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794760"/>
            <a:ext cx="475488" cy="475488"/>
          </a:xfrm>
          <a:prstGeom prst="ellipse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94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58968" y="3657600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Preview &amp; ESC Stop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58968" y="4041648"/>
            <a:ext cx="3264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Live preview with keyboard interrupt support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E5C3"/>
                </a:solidFill>
              </a:rPr>
              <a:t>LIVE RECOGNITION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camera.py — Real-Time Inference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206240" cy="356616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C2FF"/>
                </a:solidFill>
              </a:rPr>
              <a:t>CAMERA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56032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Live Video Capture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256032" cy="25603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3969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Haar Cascade Face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256032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151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Crop + Resize to 100×100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63824"/>
            <a:ext cx="256032" cy="25603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09067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Normalize &amp; Tensorize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39312"/>
            <a:ext cx="256032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6616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CNN Forward Pass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256032" cy="25603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4164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Confidence Scoring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114800" cy="164592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234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E5C3"/>
                </a:solidFill>
              </a:rPr>
              <a:t>RECOGNITION LOGIC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1664208"/>
            <a:ext cx="3840480" cy="475488"/>
          </a:xfrm>
          <a:prstGeom prst="rect">
            <a:avLst/>
          </a:prstGeom>
          <a:solidFill>
            <a:srgbClr val="103040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6642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C3"/>
                </a:solidFill>
              </a:rPr>
              <a:t>Confidence ≥ 80%  →  ✔ Known Person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231136"/>
            <a:ext cx="3840480" cy="475488"/>
          </a:xfrm>
          <a:prstGeom prst="rect">
            <a:avLst/>
          </a:prstGeom>
          <a:solidFill>
            <a:srgbClr val="300A0A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2311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888"/>
                </a:solidFill>
              </a:rPr>
              <a:t>Confidence &lt; 80%  →  ✘ Unknown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14800" cy="1783080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C2FF"/>
                </a:solidFill>
              </a:rPr>
              <a:t>ATTENDANCE LOGGING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3493008"/>
            <a:ext cx="146304" cy="1463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CSV file — one row per detection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3785616"/>
            <a:ext cx="146304" cy="1463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Columns: Name, Date, Time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4078224"/>
            <a:ext cx="146304" cy="1463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4014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Duplicate prevention — one/day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4370832"/>
            <a:ext cx="146304" cy="1463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4306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Auto-timestamp on recognition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2FF"/>
                </a:solidFill>
              </a:rPr>
              <a:t>FEATURES &amp;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&amp; Where It's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749808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07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Detection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5544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Live camera feed with instant face recognition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2084832"/>
            <a:ext cx="4206240" cy="749808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19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1214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Automatic Attendance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0120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No manual input; system logs instantly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2999232"/>
            <a:ext cx="4206240" cy="749808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3639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0358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Duplicate Prevention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0120" y="3383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One attendance entry per person per day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0040" y="3913632"/>
            <a:ext cx="4206240" cy="749808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5079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9502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High-Accuracy CNN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60120" y="4297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C7"/>
                </a:solidFill>
              </a:rPr>
              <a:t>Custom 4-block CNN with 80%+ confidence gate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754880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C2FF"/>
                </a:solidFill>
              </a:rPr>
              <a:t>APPLICATIONS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754880" y="1481328"/>
            <a:ext cx="1874520" cy="1627632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100" y="1664208"/>
            <a:ext cx="640080" cy="6400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54880" y="2395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Schools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754880" y="2743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</a:rPr>
              <a:t>Student attendance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739128" y="1481328"/>
            <a:ext cx="1874520" cy="1627632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348" y="1664208"/>
            <a:ext cx="640080" cy="6400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39128" y="23957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Offices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739128" y="2743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</a:rPr>
              <a:t>Employee check-in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4754880" y="3218688"/>
            <a:ext cx="1874520" cy="1627632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2100" y="3401568"/>
            <a:ext cx="640080" cy="6400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754880" y="4133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4754880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</a:rPr>
              <a:t>Access control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6739128" y="3218688"/>
            <a:ext cx="1874520" cy="1627632"/>
          </a:xfrm>
          <a:prstGeom prst="rect">
            <a:avLst/>
          </a:prstGeom>
          <a:solidFill>
            <a:srgbClr val="112244"/>
          </a:solidFill>
          <a:ln w="15240">
            <a:solidFill>
              <a:srgbClr val="1B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6348" y="3401568"/>
            <a:ext cx="640080" cy="6400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739128" y="4133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Industry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6739128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3C7"/>
                </a:solidFill>
              </a:rPr>
              <a:t>Workforce tracking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3A6B">
              <a:alpha val="30000"/>
            </a:srgbClr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90CC">
              <a:alpha val="20000"/>
            </a:srgbClr>
          </a:solidFill>
          <a:ln w="12700">
            <a:solidFill>
              <a:srgbClr val="009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2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Automated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Attendance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C3"/>
                </a:solidFill>
              </a:rPr>
              <a:t>Powered by AI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2286000" cy="27432"/>
          </a:xfrm>
          <a:prstGeom prst="rect">
            <a:avLst/>
          </a:prstGeom>
          <a:solidFill>
            <a:srgbClr val="00E5C3"/>
          </a:solidFill>
          <a:ln w="12700">
            <a:solidFill>
              <a:srgbClr val="00E5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88920"/>
            <a:ext cx="201168" cy="2011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Custom 4-block CNN with BatchNorm, LeakyReLU &amp; Dropout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72968"/>
            <a:ext cx="201168" cy="2011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815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OpenCV Haar Cascade for fast, real-time face detection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201168" cy="2011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655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Adam optimizer with ReduceLROnPlateau scheduler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201168" cy="2011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496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80% confidence threshold minimizes false attendance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325112"/>
            <a:ext cx="201168" cy="2011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33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E"/>
                </a:solidFill>
              </a:rPr>
              <a:t>CSV-based logging with built-in duplicate prevention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00C2FF"/>
                </a:solidFill>
              </a:rPr>
              <a:t>Python  ·  PyTorch  ·  OpenCV  ·  Custom CNN  ·  CSV Logging  ·  Real-Time Recognition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Recognition Attendance System</dc:title>
  <dc:subject>PptxGenJS Presentation</dc:subject>
  <dc:creator>PptxGenJS</dc:creator>
  <cp:lastModifiedBy>PptxGenJS</cp:lastModifiedBy>
  <cp:revision>1</cp:revision>
  <dcterms:created xsi:type="dcterms:W3CDTF">2026-04-29T03:25:28Z</dcterms:created>
  <dcterms:modified xsi:type="dcterms:W3CDTF">2026-04-29T03:25:28Z</dcterms:modified>
</cp:coreProperties>
</file>